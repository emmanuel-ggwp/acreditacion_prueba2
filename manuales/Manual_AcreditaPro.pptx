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AcreditaPro</a:t>
            </a:r>
          </a:p>
          <a:p>
            <a:pPr algn="ctr"/>
            <a:r>
              <a:rPr sz="2600">
                <a:solidFill>
                  <a:srgbClr val="C7D2FE"/>
                </a:solidFill>
              </a:rPr>
              <a:t>Manual de usuario</a:t>
            </a:r>
          </a:p>
          <a:p>
            <a:pPr algn="ctr"/>
            <a:r>
              <a:rPr sz="1400">
                <a:solidFill>
                  <a:srgbClr val="E0E7FF"/>
                </a:solidFill>
              </a:rPr>
              <a:t>Eventos · Landing · Capacidad · Participantes · Regalos · Correo · Reportes · Permisos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ctr"/>
            <a:r>
              <a:rPr sz="2700" b="1">
                <a:solidFill>
                  <a:srgbClr val="FFFFFF"/>
                </a:solidFill>
              </a:rPr>
              <a:t>1. Crear eventos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Eventos → "Crear evento".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Datos: Nombre, Descripción, Lugar, Capacidad máxima.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Invitados: permitir + máximo por participante · "Permitir varias fechas".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Fechas/horarios: nombre, inicio/término, capacidad, imagen; abrir/cerrar acreditación.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</a:rPr>
              <a:t>La capacidad de una fecha no puede superar la del evento.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ctr"/>
            <a:r>
              <a:rPr sz="2700" b="1">
                <a:solidFill>
                  <a:srgbClr val="FFFFFF"/>
                </a:solidFill>
              </a:rPr>
              <a:t>2. Personalizar la landing —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Activar "Página pública" → enlace para compartir.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Plantilla: Predeterminada / Moderna / Minimalista / Gala.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</a:rPr>
              <a:t>Al elegir plantilla se cargan sus colores y tipografía por defecto.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Colores: paleta completa, con selector o código hex (#RRGGBB).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Imagen de fondo + color y opacidad del velo · logo (en todas las plantillas).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Tipografía del nombre del evento (con vista previa).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ctr"/>
            <a:r>
              <a:rPr sz="2700" b="1">
                <a:solidFill>
                  <a:srgbClr val="FFFFFF"/>
                </a:solidFill>
              </a:rPr>
              <a:t>2. Personalizar la landing — formulario y fecha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Campos: activar/desactivar Teléfono, Empresa, Cargo, SAP, Preferencia alimenticia + obligatorios.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</a:rPr>
              <a:t>El RUT SIEMPRE se pide y es obligatorio.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Preferencia alimenticia: opciones editables por evento (y por invitado).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Con varias fechas: modal para elegir la fecha ANTES del formulario (adaptado a cada diseño).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</a:rPr>
              <a:t>El encabezado muestra la fecha que elijas.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ctr"/>
            <a:r>
              <a:rPr sz="2700" b="1">
                <a:solidFill>
                  <a:srgbClr val="FFFFFF"/>
                </a:solidFill>
              </a:rPr>
              <a:t>3. Capacidad y cupos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Se respeta la capacidad del evento y de cada fecha (participantes inscritos).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Fecha llena → deshabilitada con "Capacidad máxima alcanzada".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Evento lleno → la landing muestra "Cupos agotados".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Identificación por RUT: no se puede inscribir dos veces (aunque cambie el correo).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ctr"/>
            <a:r>
              <a:rPr sz="2700" b="1">
                <a:solidFill>
                  <a:srgbClr val="FFFFFF"/>
                </a:solidFill>
              </a:rPr>
              <a:t>4. Gestionar participantes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Evento → "Participantes" → Agregar (manual) o "Importar Excel".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Manual: campos del evento + invitados permitidos + horarios.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</a:rPr>
              <a:t>Al escribir el RUT, se sugiere reutilizar si ya existe.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Excel: "Descargar plantilla" → completar → subir → confirmar (mínimo Nombre y Correo).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Invitados por participante; eliminar pide un motivo (queda registrado).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ctr"/>
            <a:r>
              <a:rPr sz="2700" b="1">
                <a:solidFill>
                  <a:srgbClr val="FFFFFF"/>
                </a:solidFill>
              </a:rPr>
              <a:t>5. Regalos (Regalos Navidad)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Nueva campaña (ej. "Navidad 2025") → tipos por defecto.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Tipos: Por familia / Por hijo (cargas hijos) / Por carga (cargas).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Empleados: Excel o manual · Entrega: cantidad o "Entregar todo".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</a:rPr>
              <a:t>Estados: Pendiente / Parcial / Entregado · Exportar Excel.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ctr"/>
            <a:r>
              <a:rPr sz="2700" b="1">
                <a:solidFill>
                  <a:srgbClr val="FFFFFF"/>
                </a:solidFill>
              </a:rPr>
              <a:t>6. Correo de confirmación (EmailJS)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Funciona en TODAS las plantillas (con plantilla de correo asignada).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Registrar: Configuración → Plantillas de correo → Nombre + Template ID.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Variables: {{participant_name}}, {{event_name}}, {{fechaEvento}}, {{lugarEvento}}, {{guests_summary}}, {{to_email}}.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Contacto en footers/mensajes: confirmaciones@grupolocastillo.com.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Si falla ("Invalid grant"/scopes): reconectar Gmail y aceptar "Enviar correo en tu nombre".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ctr"/>
            <a:r>
              <a:rPr sz="2700" b="1">
                <a:solidFill>
                  <a:srgbClr val="FFFFFF"/>
                </a:solidFill>
              </a:rPr>
              <a:t>7. Reportes y exportación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Reportes del evento: registrados, acreditados y tasa de asistencia.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Resumen de preferencias alimenticias (participantes + invitados).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"Exportar asistentes (Excel)": una fila por persona con dieta, SAP, empresa,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56032"/>
          <a:lstStyle/>
          <a:p>
            <a:pPr algn="ctr"/>
            <a:r>
              <a:rPr sz="2700" b="1">
                <a:solidFill>
                  <a:srgbClr val="FFFFFF"/>
                </a:solidFill>
              </a:rPr>
              <a:t>8. Roles y permisos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Cada usuario tiene un rol; se gestionan en "Usuarios" (solo Administrador).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Administrador: acceso total (incluye Configuración, Usuarios, Actividad).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74151"/>
                </a:solidFill>
              </a:rPr>
              <a:t>Acreditador: SOLO Panel y Acreditación (personal de entrada; varios dispositivos; 24 h).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374151"/>
                </a:solidFill>
              </a:rPr>
              <a:t>(También existen Gerente y Operador, con accesos intermedios.)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